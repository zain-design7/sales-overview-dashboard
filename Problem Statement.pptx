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49"/>
    <a:srgbClr val="B248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AD5BD-E7E1-0408-0F51-E7250669C9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280F48-5DB2-BB3C-87BE-C322FF6E31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A204BD3-38FC-AB95-CC72-7016594B37AF}"/>
              </a:ext>
            </a:extLst>
          </p:cNvPr>
          <p:cNvSpPr>
            <a:spLocks noGrp="1"/>
          </p:cNvSpPr>
          <p:nvPr>
            <p:ph type="dt" sz="half" idx="10"/>
          </p:nvPr>
        </p:nvSpPr>
        <p:spPr/>
        <p:txBody>
          <a:bodyPr/>
          <a:lstStyle/>
          <a:p>
            <a:fld id="{4CEA8C0D-AF51-45C5-B2E1-B5F89F9AF0B0}" type="datetimeFigureOut">
              <a:rPr lang="en-IN" smtClean="0"/>
              <a:t>15-03-2026</a:t>
            </a:fld>
            <a:endParaRPr lang="en-IN"/>
          </a:p>
        </p:txBody>
      </p:sp>
      <p:sp>
        <p:nvSpPr>
          <p:cNvPr id="5" name="Footer Placeholder 4">
            <a:extLst>
              <a:ext uri="{FF2B5EF4-FFF2-40B4-BE49-F238E27FC236}">
                <a16:creationId xmlns:a16="http://schemas.microsoft.com/office/drawing/2014/main" id="{44067957-325F-1CD9-8E99-F72A77A6F7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9B31BC-4B03-2A00-543C-F291060DE0C4}"/>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1900184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26CFB-081A-88C2-3CFF-F99377EA98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091A2B-CAC2-22D4-991A-99E3654CC8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B8EA92-AB75-4A0A-BFDC-D692FAD6F7F9}"/>
              </a:ext>
            </a:extLst>
          </p:cNvPr>
          <p:cNvSpPr>
            <a:spLocks noGrp="1"/>
          </p:cNvSpPr>
          <p:nvPr>
            <p:ph type="dt" sz="half" idx="10"/>
          </p:nvPr>
        </p:nvSpPr>
        <p:spPr/>
        <p:txBody>
          <a:bodyPr/>
          <a:lstStyle/>
          <a:p>
            <a:fld id="{4CEA8C0D-AF51-45C5-B2E1-B5F89F9AF0B0}" type="datetimeFigureOut">
              <a:rPr lang="en-IN" smtClean="0"/>
              <a:t>15-03-2026</a:t>
            </a:fld>
            <a:endParaRPr lang="en-IN"/>
          </a:p>
        </p:txBody>
      </p:sp>
      <p:sp>
        <p:nvSpPr>
          <p:cNvPr id="5" name="Footer Placeholder 4">
            <a:extLst>
              <a:ext uri="{FF2B5EF4-FFF2-40B4-BE49-F238E27FC236}">
                <a16:creationId xmlns:a16="http://schemas.microsoft.com/office/drawing/2014/main" id="{1CA9BB27-4166-B1F5-A516-87212098FA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8DC519-1ED9-8F6F-0F7F-82829C7758A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91234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DAE07-1DA7-E7F1-0E3D-BD0537D8F0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EC405C-38C7-FF24-EE6F-C6CD9794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9630B1-31E7-3E85-F6D1-9B8125CDC9AB}"/>
              </a:ext>
            </a:extLst>
          </p:cNvPr>
          <p:cNvSpPr>
            <a:spLocks noGrp="1"/>
          </p:cNvSpPr>
          <p:nvPr>
            <p:ph type="dt" sz="half" idx="10"/>
          </p:nvPr>
        </p:nvSpPr>
        <p:spPr/>
        <p:txBody>
          <a:bodyPr/>
          <a:lstStyle/>
          <a:p>
            <a:fld id="{4CEA8C0D-AF51-45C5-B2E1-B5F89F9AF0B0}" type="datetimeFigureOut">
              <a:rPr lang="en-IN" smtClean="0"/>
              <a:t>15-03-2026</a:t>
            </a:fld>
            <a:endParaRPr lang="en-IN"/>
          </a:p>
        </p:txBody>
      </p:sp>
      <p:sp>
        <p:nvSpPr>
          <p:cNvPr id="5" name="Footer Placeholder 4">
            <a:extLst>
              <a:ext uri="{FF2B5EF4-FFF2-40B4-BE49-F238E27FC236}">
                <a16:creationId xmlns:a16="http://schemas.microsoft.com/office/drawing/2014/main" id="{BB0499DE-3154-6ED3-1608-32C2B95C43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445880-6527-ABED-3027-F61F7A40B94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41754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B847-DC97-2121-289D-2FECD29189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27D686-0005-4486-508D-F9206A321B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6844D3-E3BF-617C-17CC-8A0F6D512A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6D1019-5D65-EA1A-D296-236B5FCB590D}"/>
              </a:ext>
            </a:extLst>
          </p:cNvPr>
          <p:cNvSpPr>
            <a:spLocks noGrp="1"/>
          </p:cNvSpPr>
          <p:nvPr>
            <p:ph type="dt" sz="half" idx="10"/>
          </p:nvPr>
        </p:nvSpPr>
        <p:spPr/>
        <p:txBody>
          <a:bodyPr/>
          <a:lstStyle/>
          <a:p>
            <a:fld id="{4CEA8C0D-AF51-45C5-B2E1-B5F89F9AF0B0}" type="datetimeFigureOut">
              <a:rPr lang="en-IN" smtClean="0"/>
              <a:t>15-03-2026</a:t>
            </a:fld>
            <a:endParaRPr lang="en-IN"/>
          </a:p>
        </p:txBody>
      </p:sp>
      <p:sp>
        <p:nvSpPr>
          <p:cNvPr id="6" name="Footer Placeholder 5">
            <a:extLst>
              <a:ext uri="{FF2B5EF4-FFF2-40B4-BE49-F238E27FC236}">
                <a16:creationId xmlns:a16="http://schemas.microsoft.com/office/drawing/2014/main" id="{3DD8A1A1-9141-61B5-7386-36A56D9CFA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868E07-B254-4E8A-BE91-7E6EB9927AA1}"/>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4273034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33BB4-936E-DBC2-233F-6A5766C370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01057D-37AE-47E9-A2BA-75E8165B57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E2EC93-4BFE-F74C-4EFC-969DCE4DFE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62EC72-731D-0B08-9D45-D36CA6677A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8E5018-881D-5337-1B7D-996D79FFAD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9B99F2-8132-6556-F0C3-1A91FAB20416}"/>
              </a:ext>
            </a:extLst>
          </p:cNvPr>
          <p:cNvSpPr>
            <a:spLocks noGrp="1"/>
          </p:cNvSpPr>
          <p:nvPr>
            <p:ph type="dt" sz="half" idx="10"/>
          </p:nvPr>
        </p:nvSpPr>
        <p:spPr/>
        <p:txBody>
          <a:bodyPr/>
          <a:lstStyle/>
          <a:p>
            <a:fld id="{4CEA8C0D-AF51-45C5-B2E1-B5F89F9AF0B0}" type="datetimeFigureOut">
              <a:rPr lang="en-IN" smtClean="0"/>
              <a:t>15-03-2026</a:t>
            </a:fld>
            <a:endParaRPr lang="en-IN"/>
          </a:p>
        </p:txBody>
      </p:sp>
      <p:sp>
        <p:nvSpPr>
          <p:cNvPr id="8" name="Footer Placeholder 7">
            <a:extLst>
              <a:ext uri="{FF2B5EF4-FFF2-40B4-BE49-F238E27FC236}">
                <a16:creationId xmlns:a16="http://schemas.microsoft.com/office/drawing/2014/main" id="{6F9728EF-804E-165C-7DD2-B7A5D7E031E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936CDD-E3B6-78CF-81BD-AF5B4F58D660}"/>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281545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4915A-5834-99BA-8593-DBC6D4855D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19A198-325B-FAFC-DCDF-222DDB38B7A2}"/>
              </a:ext>
            </a:extLst>
          </p:cNvPr>
          <p:cNvSpPr>
            <a:spLocks noGrp="1"/>
          </p:cNvSpPr>
          <p:nvPr>
            <p:ph type="dt" sz="half" idx="10"/>
          </p:nvPr>
        </p:nvSpPr>
        <p:spPr/>
        <p:txBody>
          <a:bodyPr/>
          <a:lstStyle/>
          <a:p>
            <a:fld id="{4CEA8C0D-AF51-45C5-B2E1-B5F89F9AF0B0}" type="datetimeFigureOut">
              <a:rPr lang="en-IN" smtClean="0"/>
              <a:t>15-03-2026</a:t>
            </a:fld>
            <a:endParaRPr lang="en-IN"/>
          </a:p>
        </p:txBody>
      </p:sp>
      <p:sp>
        <p:nvSpPr>
          <p:cNvPr id="4" name="Footer Placeholder 3">
            <a:extLst>
              <a:ext uri="{FF2B5EF4-FFF2-40B4-BE49-F238E27FC236}">
                <a16:creationId xmlns:a16="http://schemas.microsoft.com/office/drawing/2014/main" id="{437A9AB4-72E3-874D-B33D-2C15590757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5734660-F6FD-7964-1E24-3511966C273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244493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9C7836-4569-8E35-6015-7CDC8E871383}"/>
              </a:ext>
            </a:extLst>
          </p:cNvPr>
          <p:cNvSpPr>
            <a:spLocks noGrp="1"/>
          </p:cNvSpPr>
          <p:nvPr>
            <p:ph type="dt" sz="half" idx="10"/>
          </p:nvPr>
        </p:nvSpPr>
        <p:spPr/>
        <p:txBody>
          <a:bodyPr/>
          <a:lstStyle/>
          <a:p>
            <a:fld id="{4CEA8C0D-AF51-45C5-B2E1-B5F89F9AF0B0}" type="datetimeFigureOut">
              <a:rPr lang="en-IN" smtClean="0"/>
              <a:t>15-03-2026</a:t>
            </a:fld>
            <a:endParaRPr lang="en-IN"/>
          </a:p>
        </p:txBody>
      </p:sp>
      <p:sp>
        <p:nvSpPr>
          <p:cNvPr id="3" name="Footer Placeholder 2">
            <a:extLst>
              <a:ext uri="{FF2B5EF4-FFF2-40B4-BE49-F238E27FC236}">
                <a16:creationId xmlns:a16="http://schemas.microsoft.com/office/drawing/2014/main" id="{AFB09884-C254-BB3B-2374-584D3255818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7DD664-19BA-665D-9447-2669AF95270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581883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12F0B-C2EE-4A9A-FF8B-067C617CE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0A1FAC-180B-F572-9400-98D5891315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1EA1C3-3D57-DB1B-690B-0AC77B63C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85FD77-9A24-3266-3ECC-47ED13F90D90}"/>
              </a:ext>
            </a:extLst>
          </p:cNvPr>
          <p:cNvSpPr>
            <a:spLocks noGrp="1"/>
          </p:cNvSpPr>
          <p:nvPr>
            <p:ph type="dt" sz="half" idx="10"/>
          </p:nvPr>
        </p:nvSpPr>
        <p:spPr/>
        <p:txBody>
          <a:bodyPr/>
          <a:lstStyle/>
          <a:p>
            <a:fld id="{4CEA8C0D-AF51-45C5-B2E1-B5F89F9AF0B0}" type="datetimeFigureOut">
              <a:rPr lang="en-IN" smtClean="0"/>
              <a:t>15-03-2026</a:t>
            </a:fld>
            <a:endParaRPr lang="en-IN"/>
          </a:p>
        </p:txBody>
      </p:sp>
      <p:sp>
        <p:nvSpPr>
          <p:cNvPr id="6" name="Footer Placeholder 5">
            <a:extLst>
              <a:ext uri="{FF2B5EF4-FFF2-40B4-BE49-F238E27FC236}">
                <a16:creationId xmlns:a16="http://schemas.microsoft.com/office/drawing/2014/main" id="{27D6E7C0-E497-B353-1A56-2A223122EF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9D59F1-CF78-8BF8-1C9C-D32F5B86446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025636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BCB1-D780-EFE4-4C09-CF7396989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4EDBFA-A222-700A-3BAA-49FC4CE704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C09B3C-293F-A633-2AB4-AC1C2A1DD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363D0-FFA8-14C1-7AA0-17B352CE5202}"/>
              </a:ext>
            </a:extLst>
          </p:cNvPr>
          <p:cNvSpPr>
            <a:spLocks noGrp="1"/>
          </p:cNvSpPr>
          <p:nvPr>
            <p:ph type="dt" sz="half" idx="10"/>
          </p:nvPr>
        </p:nvSpPr>
        <p:spPr/>
        <p:txBody>
          <a:bodyPr/>
          <a:lstStyle/>
          <a:p>
            <a:fld id="{4CEA8C0D-AF51-45C5-B2E1-B5F89F9AF0B0}" type="datetimeFigureOut">
              <a:rPr lang="en-IN" smtClean="0"/>
              <a:t>15-03-2026</a:t>
            </a:fld>
            <a:endParaRPr lang="en-IN"/>
          </a:p>
        </p:txBody>
      </p:sp>
      <p:sp>
        <p:nvSpPr>
          <p:cNvPr id="6" name="Footer Placeholder 5">
            <a:extLst>
              <a:ext uri="{FF2B5EF4-FFF2-40B4-BE49-F238E27FC236}">
                <a16:creationId xmlns:a16="http://schemas.microsoft.com/office/drawing/2014/main" id="{392A0886-21F6-2035-12EC-0ADDCA7FE4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0463AA-F6A3-4041-2EBE-59A81F06A039}"/>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889062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D119-CB50-5CBF-634A-2AA14D0349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E4D3ED-384D-8FE5-890A-0F853E8360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93A666-6751-1B04-7F97-FA611B94C4DD}"/>
              </a:ext>
            </a:extLst>
          </p:cNvPr>
          <p:cNvSpPr>
            <a:spLocks noGrp="1"/>
          </p:cNvSpPr>
          <p:nvPr>
            <p:ph type="dt" sz="half" idx="10"/>
          </p:nvPr>
        </p:nvSpPr>
        <p:spPr/>
        <p:txBody>
          <a:bodyPr/>
          <a:lstStyle/>
          <a:p>
            <a:fld id="{4CEA8C0D-AF51-45C5-B2E1-B5F89F9AF0B0}" type="datetimeFigureOut">
              <a:rPr lang="en-IN" smtClean="0"/>
              <a:t>15-03-2026</a:t>
            </a:fld>
            <a:endParaRPr lang="en-IN"/>
          </a:p>
        </p:txBody>
      </p:sp>
      <p:sp>
        <p:nvSpPr>
          <p:cNvPr id="5" name="Footer Placeholder 4">
            <a:extLst>
              <a:ext uri="{FF2B5EF4-FFF2-40B4-BE49-F238E27FC236}">
                <a16:creationId xmlns:a16="http://schemas.microsoft.com/office/drawing/2014/main" id="{BF9D869F-62B8-7672-3706-C424CA6ACC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4E692F-5274-F5FB-3FBA-4287AAF609E5}"/>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592149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9FDF59-9096-C892-5368-E2FC0E82C4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AB859D-F160-619A-1909-B74A4BA3B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243180-ED2F-2B1E-D8E6-182E20B14F82}"/>
              </a:ext>
            </a:extLst>
          </p:cNvPr>
          <p:cNvSpPr>
            <a:spLocks noGrp="1"/>
          </p:cNvSpPr>
          <p:nvPr>
            <p:ph type="dt" sz="half" idx="10"/>
          </p:nvPr>
        </p:nvSpPr>
        <p:spPr/>
        <p:txBody>
          <a:bodyPr/>
          <a:lstStyle/>
          <a:p>
            <a:fld id="{4CEA8C0D-AF51-45C5-B2E1-B5F89F9AF0B0}" type="datetimeFigureOut">
              <a:rPr lang="en-IN" smtClean="0"/>
              <a:t>15-03-2026</a:t>
            </a:fld>
            <a:endParaRPr lang="en-IN"/>
          </a:p>
        </p:txBody>
      </p:sp>
      <p:sp>
        <p:nvSpPr>
          <p:cNvPr id="5" name="Footer Placeholder 4">
            <a:extLst>
              <a:ext uri="{FF2B5EF4-FFF2-40B4-BE49-F238E27FC236}">
                <a16:creationId xmlns:a16="http://schemas.microsoft.com/office/drawing/2014/main" id="{6E9A35F1-1EE5-4333-1C9F-9A8466AFE8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712D23-D528-EA87-2C9B-181C368BDA7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500568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D9E6AA-4C79-3DB3-5F4F-2231A657D8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5795D4-6135-4815-028B-F56DE3235D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6B45D4-D3B8-00A2-5252-D51A85F07B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EA8C0D-AF51-45C5-B2E1-B5F89F9AF0B0}" type="datetimeFigureOut">
              <a:rPr lang="en-IN" smtClean="0"/>
              <a:t>15-03-2026</a:t>
            </a:fld>
            <a:endParaRPr lang="en-IN"/>
          </a:p>
        </p:txBody>
      </p:sp>
      <p:sp>
        <p:nvSpPr>
          <p:cNvPr id="5" name="Footer Placeholder 4">
            <a:extLst>
              <a:ext uri="{FF2B5EF4-FFF2-40B4-BE49-F238E27FC236}">
                <a16:creationId xmlns:a16="http://schemas.microsoft.com/office/drawing/2014/main" id="{E3BB5228-C77A-F3E9-9DFE-4328CC1008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B71914-C67D-076F-A154-A85D911213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6D6B9-E484-4926-84F1-54F1E28DF495}" type="slidenum">
              <a:rPr lang="en-IN" smtClean="0"/>
              <a:t>‹#›</a:t>
            </a:fld>
            <a:endParaRPr lang="en-IN"/>
          </a:p>
        </p:txBody>
      </p:sp>
    </p:spTree>
    <p:extLst>
      <p:ext uri="{BB962C8B-B14F-4D97-AF65-F5344CB8AC3E}">
        <p14:creationId xmlns:p14="http://schemas.microsoft.com/office/powerpoint/2010/main" val="3149016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330418"/>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b="1" dirty="0">
                <a:latin typeface="Aptos" panose="020B0004020202020204" pitchFamily="34" charset="0"/>
                <a:ea typeface="Segoe UI Black" panose="020B0A02040204020203" pitchFamily="34" charset="0"/>
              </a:rPr>
              <a:t>Sales Overview Analysis</a:t>
            </a:r>
            <a:endParaRPr lang="en-IN" sz="3600" b="1" dirty="0">
              <a:solidFill>
                <a:schemeClr val="accent5">
                  <a:lumMod val="75000"/>
                </a:schemeClr>
              </a:solidFill>
              <a:latin typeface="Aptos" panose="020B0004020202020204" pitchFamily="34" charset="0"/>
              <a:ea typeface="Segoe UI Black" panose="020B0A02040204020203" pitchFamily="34" charset="0"/>
            </a:endParaRPr>
          </a:p>
        </p:txBody>
      </p:sp>
      <p:sp>
        <p:nvSpPr>
          <p:cNvPr id="6" name="TextBox 2">
            <a:extLst>
              <a:ext uri="{FF2B5EF4-FFF2-40B4-BE49-F238E27FC236}">
                <a16:creationId xmlns:a16="http://schemas.microsoft.com/office/drawing/2014/main" id="{213131C0-50E9-DE88-F8D0-1C31BEF0B547}"/>
              </a:ext>
            </a:extLst>
          </p:cNvPr>
          <p:cNvSpPr txBox="1"/>
          <p:nvPr/>
        </p:nvSpPr>
        <p:spPr>
          <a:xfrm>
            <a:off x="371473" y="92419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ptos" panose="020B0004020202020204" pitchFamily="34" charset="0"/>
                <a:ea typeface="Segoe UI Black" panose="020B0A02040204020203" pitchFamily="34" charset="0"/>
              </a:rPr>
              <a:t>STEPS IN PROJECT</a:t>
            </a:r>
          </a:p>
        </p:txBody>
      </p:sp>
      <p:sp>
        <p:nvSpPr>
          <p:cNvPr id="9" name="Rectangle 2">
            <a:extLst>
              <a:ext uri="{FF2B5EF4-FFF2-40B4-BE49-F238E27FC236}">
                <a16:creationId xmlns:a16="http://schemas.microsoft.com/office/drawing/2014/main" id="{49BB8B4C-F9B4-2309-8C03-0CE0B0A44BE5}"/>
              </a:ext>
            </a:extLst>
          </p:cNvPr>
          <p:cNvSpPr>
            <a:spLocks noChangeArrowheads="1"/>
          </p:cNvSpPr>
          <p:nvPr/>
        </p:nvSpPr>
        <p:spPr bwMode="auto">
          <a:xfrm>
            <a:off x="390524" y="1346888"/>
            <a:ext cx="7896227" cy="4752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ptos" panose="020B0004020202020204" pitchFamily="34" charset="0"/>
              </a:rPr>
              <a:t>Requirement Gathering/ Business Requirements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1700" b="1" dirty="0">
                <a:latin typeface="Aptos" panose="020B0004020202020204" pitchFamily="34" charset="0"/>
              </a:rPr>
              <a:t>Data Walkthrough</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1700" b="1" dirty="0">
                <a:latin typeface="Aptos" panose="020B0004020202020204" pitchFamily="34" charset="0"/>
              </a:rPr>
              <a:t>Data Connection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ptos" panose="020B0004020202020204" pitchFamily="34" charset="0"/>
              </a:rPr>
              <a:t>Data Cleaning / Quality Check</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1700" b="1" dirty="0">
                <a:latin typeface="Aptos" panose="020B0004020202020204" pitchFamily="34" charset="0"/>
              </a:rPr>
              <a:t>Data Modeling</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ptos" panose="020B0004020202020204" pitchFamily="34" charset="0"/>
              </a:rPr>
              <a:t>Data Processing</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1700" b="1" dirty="0">
                <a:latin typeface="Aptos" panose="020B0004020202020204" pitchFamily="34" charset="0"/>
              </a:rPr>
              <a:t>DAX Calculations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1700" b="1" dirty="0">
                <a:latin typeface="Aptos" panose="020B0004020202020204" pitchFamily="34" charset="0"/>
              </a:rPr>
              <a:t>Dashboard Background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ptos" panose="020B0004020202020204" pitchFamily="34" charset="0"/>
              </a:rPr>
              <a:t>Dashboard Lay outing</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1700" b="1" dirty="0">
                <a:latin typeface="Aptos" panose="020B0004020202020204" pitchFamily="34" charset="0"/>
              </a:rPr>
              <a:t>Charts Development and Formatting</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ptos" panose="020B0004020202020204" pitchFamily="34" charset="0"/>
              </a:rPr>
              <a:t>Dashboard / Report Development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1700" b="1" dirty="0">
                <a:latin typeface="Aptos" panose="020B0004020202020204" pitchFamily="34" charset="0"/>
              </a:rPr>
              <a:t>Insights Generation</a:t>
            </a:r>
          </a:p>
        </p:txBody>
      </p:sp>
    </p:spTree>
    <p:extLst>
      <p:ext uri="{BB962C8B-B14F-4D97-AF65-F5344CB8AC3E}">
        <p14:creationId xmlns:p14="http://schemas.microsoft.com/office/powerpoint/2010/main" val="355552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0"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1"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2" name="TextBox 2">
            <a:extLst>
              <a:ext uri="{FF2B5EF4-FFF2-40B4-BE49-F238E27FC236}">
                <a16:creationId xmlns:a16="http://schemas.microsoft.com/office/drawing/2014/main" id="{1EDBFF20-866A-3F91-DC0C-E6135DAAEF98}"/>
              </a:ext>
            </a:extLst>
          </p:cNvPr>
          <p:cNvSpPr txBox="1"/>
          <p:nvPr/>
        </p:nvSpPr>
        <p:spPr>
          <a:xfrm>
            <a:off x="3163374" y="281090"/>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b="1" dirty="0">
                <a:latin typeface="Aptos" panose="020B0004020202020204" pitchFamily="34" charset="0"/>
                <a:ea typeface="Segoe UI Black" panose="020B0A02040204020203" pitchFamily="34" charset="0"/>
              </a:rPr>
              <a:t>Sales Overview Analysis</a:t>
            </a:r>
            <a:endParaRPr lang="en-IN" sz="3600" b="1" dirty="0">
              <a:solidFill>
                <a:schemeClr val="accent5">
                  <a:lumMod val="75000"/>
                </a:schemeClr>
              </a:solidFill>
              <a:latin typeface="Aptos" panose="020B0004020202020204" pitchFamily="34" charset="0"/>
              <a:ea typeface="Segoe UI Black" panose="020B0A02040204020203" pitchFamily="34" charset="0"/>
            </a:endParaRPr>
          </a:p>
        </p:txBody>
      </p:sp>
      <p:sp>
        <p:nvSpPr>
          <p:cNvPr id="8" name="TextBox 2">
            <a:extLst>
              <a:ext uri="{FF2B5EF4-FFF2-40B4-BE49-F238E27FC236}">
                <a16:creationId xmlns:a16="http://schemas.microsoft.com/office/drawing/2014/main" id="{EC607701-22BB-8AE8-C5E6-87354FC47E1A}"/>
              </a:ext>
            </a:extLst>
          </p:cNvPr>
          <p:cNvSpPr txBox="1"/>
          <p:nvPr/>
        </p:nvSpPr>
        <p:spPr>
          <a:xfrm>
            <a:off x="197305"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ptos" panose="020B000402020202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83527" y="250371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ptos" panose="020B000402020202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283527" y="2824495"/>
            <a:ext cx="11570385" cy="373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ptos" panose="020B0004020202020204" pitchFamily="34" charset="0"/>
              </a:rPr>
              <a:t>Central Region</a:t>
            </a:r>
            <a:r>
              <a:rPr kumimoji="0" lang="en-US" altLang="en-US" sz="1600" b="0" i="0" u="none" strike="noStrike" cap="none" normalizeH="0" baseline="0" dirty="0">
                <a:ln>
                  <a:noFill/>
                </a:ln>
                <a:solidFill>
                  <a:schemeClr val="tx1"/>
                </a:solidFill>
                <a:effectLst/>
                <a:latin typeface="Aptos" panose="020B0004020202020204" pitchFamily="34" charset="0"/>
              </a:rPr>
              <a:t>:</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ptos" panose="020B00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ptos" panose="020B00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ptos" panose="020B00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ptos" panose="020B0004020202020204" pitchFamily="34" charset="0"/>
              </a:rPr>
              <a:t>Create a bar sparkline for monthly data, including an average line for better trend analysis.</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ptos" panose="020B0004020202020204" pitchFamily="34" charset="0"/>
              </a:rPr>
              <a:t>East Region</a:t>
            </a:r>
            <a:r>
              <a:rPr kumimoji="0" lang="en-US" altLang="en-US" sz="1600" b="0" i="0" u="none" strike="noStrike" cap="none" normalizeH="0" baseline="0" dirty="0">
                <a:ln>
                  <a:noFill/>
                </a:ln>
                <a:solidFill>
                  <a:schemeClr val="tx1"/>
                </a:solidFill>
                <a:effectLst/>
                <a:latin typeface="Aptos" panose="020B0004020202020204" pitchFamily="34" charset="0"/>
              </a:rPr>
              <a:t>:</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ptos" panose="020B0004020202020204" pitchFamily="34" charset="0"/>
              </a:rPr>
              <a:t>Display Sales, Profit, and Quantity as per the selected year filter.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ptos" panose="020B0004020202020204" pitchFamily="34" charset="0"/>
              </a:rPr>
              <a:t>Allow dynamic selection between Sales, Profit, and Quantity.</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ptos" panose="020B0004020202020204" pitchFamily="34" charset="0"/>
              </a:rPr>
              <a:t>Show Sales for the previous year based on the selected year.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ptos" panose="020B0004020202020204" pitchFamily="34" charset="0"/>
              </a:rPr>
              <a:t>Create a bar sparkline for monthly data, including an average line for better trend analysis.</a:t>
            </a:r>
          </a:p>
        </p:txBody>
      </p:sp>
      <p:sp>
        <p:nvSpPr>
          <p:cNvPr id="6" name="TextBox 5">
            <a:extLst>
              <a:ext uri="{FF2B5EF4-FFF2-40B4-BE49-F238E27FC236}">
                <a16:creationId xmlns:a16="http://schemas.microsoft.com/office/drawing/2014/main" id="{08C4D190-B5E9-8862-30B7-F38C75402C07}"/>
              </a:ext>
            </a:extLst>
          </p:cNvPr>
          <p:cNvSpPr txBox="1"/>
          <p:nvPr/>
        </p:nvSpPr>
        <p:spPr>
          <a:xfrm>
            <a:off x="266270" y="1571643"/>
            <a:ext cx="11353800" cy="1077218"/>
          </a:xfrm>
          <a:prstGeom prst="rect">
            <a:avLst/>
          </a:prstGeom>
          <a:noFill/>
        </p:spPr>
        <p:txBody>
          <a:bodyPr wrap="square" rtlCol="0">
            <a:spAutoFit/>
          </a:bodyPr>
          <a:lstStyle/>
          <a:p>
            <a:r>
              <a:rPr lang="en-US" sz="1600" b="1" dirty="0">
                <a:solidFill>
                  <a:schemeClr val="accent6">
                    <a:lumMod val="50000"/>
                  </a:schemeClr>
                </a:solidFill>
                <a:latin typeface="Aptos" panose="020B0004020202020204" pitchFamily="34" charset="0"/>
              </a:rPr>
              <a:t>Design a dynamic Power BI dashboard that tracks key metrics—Sales, Profit, and Quantity—across four regions: Central, East, South, and West. The dashboard should allow users to filter by year and dynamically switch between the three metrics (Sales, Profit, and Quantity). Additionally, it should include a comparison with the previous year's (PY) sales for the selected year.</a:t>
            </a:r>
            <a:endParaRPr lang="en-IN" sz="1600" b="1" dirty="0">
              <a:solidFill>
                <a:schemeClr val="accent6">
                  <a:lumMod val="50000"/>
                </a:schemeClr>
              </a:solidFill>
              <a:latin typeface="Aptos" panose="020B0004020202020204" pitchFamily="34" charset="0"/>
            </a:endParaRPr>
          </a:p>
        </p:txBody>
      </p:sp>
    </p:spTree>
    <p:extLst>
      <p:ext uri="{BB962C8B-B14F-4D97-AF65-F5344CB8AC3E}">
        <p14:creationId xmlns:p14="http://schemas.microsoft.com/office/powerpoint/2010/main" val="587122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249704"/>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b="1" dirty="0">
                <a:latin typeface="Aptos" panose="020B0004020202020204" pitchFamily="34" charset="0"/>
                <a:ea typeface="Segoe UI Black" panose="020B0A02040204020203" pitchFamily="34" charset="0"/>
              </a:rPr>
              <a:t>Sales Overview Analysis</a:t>
            </a:r>
            <a:endParaRPr lang="en-IN" sz="3600" b="1" dirty="0">
              <a:solidFill>
                <a:schemeClr val="accent5">
                  <a:lumMod val="75000"/>
                </a:schemeClr>
              </a:solidFill>
              <a:latin typeface="Aptos" panose="020B0004020202020204" pitchFamily="34" charset="0"/>
              <a:ea typeface="Segoe UI Black" panose="020B0A02040204020203" pitchFamily="34" charset="0"/>
            </a:endParaRPr>
          </a:p>
        </p:txBody>
      </p:sp>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ptos" panose="020B000402020202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68132" y="14854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ptos" panose="020B000402020202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1980688"/>
            <a:ext cx="11570385" cy="447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1600" b="1" dirty="0">
                <a:latin typeface="Aptos" panose="020B0004020202020204" pitchFamily="34" charset="0"/>
              </a:rPr>
              <a:t>South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ptos" panose="020B00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ptos" panose="020B00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ptos" panose="020B00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ptos" panose="020B00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r>
              <a:rPr lang="en-US" altLang="en-US" sz="1600" b="1" dirty="0">
                <a:latin typeface="Aptos" panose="020B0004020202020204" pitchFamily="34" charset="0"/>
              </a:rPr>
              <a:t>West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ptos" panose="020B00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ptos" panose="020B00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ptos" panose="020B00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ptos" panose="020B00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endParaRPr lang="en-US" altLang="en-US" sz="1600" b="1" dirty="0">
              <a:latin typeface="Aptos" panose="020B0004020202020204" pitchFamily="34" charset="0"/>
            </a:endParaRPr>
          </a:p>
          <a:p>
            <a:pPr eaLnBrk="0" fontAlgn="base" hangingPunct="0">
              <a:lnSpc>
                <a:spcPct val="150000"/>
              </a:lnSpc>
              <a:spcBef>
                <a:spcPct val="0"/>
              </a:spcBef>
              <a:spcAft>
                <a:spcPct val="0"/>
              </a:spcAft>
            </a:pPr>
            <a:endParaRPr lang="en-US" altLang="en-US" sz="1600" b="1" dirty="0">
              <a:latin typeface="Aptos" panose="020B0004020202020204" pitchFamily="34" charset="0"/>
            </a:endParaRPr>
          </a:p>
        </p:txBody>
      </p:sp>
    </p:spTree>
    <p:extLst>
      <p:ext uri="{BB962C8B-B14F-4D97-AF65-F5344CB8AC3E}">
        <p14:creationId xmlns:p14="http://schemas.microsoft.com/office/powerpoint/2010/main" val="2598561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295438"/>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b="1" dirty="0">
                <a:latin typeface="Aptos" panose="020B0004020202020204" pitchFamily="34" charset="0"/>
                <a:ea typeface="Segoe UI Black" panose="020B0A02040204020203" pitchFamily="34" charset="0"/>
              </a:rPr>
              <a:t>Sales Overview Analysis</a:t>
            </a:r>
            <a:endParaRPr lang="en-IN" sz="3600" b="1" dirty="0">
              <a:solidFill>
                <a:schemeClr val="accent5">
                  <a:lumMod val="75000"/>
                </a:schemeClr>
              </a:solidFill>
              <a:latin typeface="Aptos" panose="020B0004020202020204" pitchFamily="34" charset="0"/>
              <a:ea typeface="Segoe UI Black" panose="020B0A02040204020203" pitchFamily="34" charset="0"/>
            </a:endParaRPr>
          </a:p>
        </p:txBody>
      </p:sp>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ptos" panose="020B0004020202020204" pitchFamily="34" charset="0"/>
                <a:ea typeface="Segoe UI Black" panose="020B0A02040204020203" pitchFamily="34" charset="0"/>
              </a:rPr>
              <a:t>BUSINESS REQUIREMENT</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3822249"/>
            <a:ext cx="11570385" cy="795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endParaRPr lang="en-US" altLang="en-US" sz="1600" b="1" dirty="0">
              <a:latin typeface="Aptos" panose="020B0004020202020204" pitchFamily="34" charset="0"/>
            </a:endParaRPr>
          </a:p>
          <a:p>
            <a:pPr eaLnBrk="0" fontAlgn="base" hangingPunct="0">
              <a:lnSpc>
                <a:spcPct val="150000"/>
              </a:lnSpc>
              <a:spcBef>
                <a:spcPct val="0"/>
              </a:spcBef>
              <a:spcAft>
                <a:spcPct val="0"/>
              </a:spcAft>
            </a:pPr>
            <a:endParaRPr lang="en-US" altLang="en-US" sz="1600" b="1" dirty="0">
              <a:latin typeface="Aptos" panose="020B0004020202020204" pitchFamily="34" charset="0"/>
            </a:endParaRPr>
          </a:p>
        </p:txBody>
      </p:sp>
      <p:sp>
        <p:nvSpPr>
          <p:cNvPr id="6" name="TextBox 2">
            <a:extLst>
              <a:ext uri="{FF2B5EF4-FFF2-40B4-BE49-F238E27FC236}">
                <a16:creationId xmlns:a16="http://schemas.microsoft.com/office/drawing/2014/main" id="{6695E2A3-2525-6779-F9AC-9CADEBF630D0}"/>
              </a:ext>
            </a:extLst>
          </p:cNvPr>
          <p:cNvSpPr txBox="1"/>
          <p:nvPr/>
        </p:nvSpPr>
        <p:spPr>
          <a:xfrm>
            <a:off x="264316" y="15235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ptos" panose="020B0004020202020204" pitchFamily="34" charset="0"/>
                <a:ea typeface="Segoe UI Black" panose="020B0A02040204020203" pitchFamily="34" charset="0"/>
              </a:rPr>
              <a:t>Chart’s Requirements</a:t>
            </a:r>
          </a:p>
        </p:txBody>
      </p:sp>
      <p:sp>
        <p:nvSpPr>
          <p:cNvPr id="14" name="TextBox 13">
            <a:extLst>
              <a:ext uri="{FF2B5EF4-FFF2-40B4-BE49-F238E27FC236}">
                <a16:creationId xmlns:a16="http://schemas.microsoft.com/office/drawing/2014/main" id="{8554F65D-4968-AD7D-E0C2-AEA6FAE278B4}"/>
              </a:ext>
            </a:extLst>
          </p:cNvPr>
          <p:cNvSpPr txBox="1"/>
          <p:nvPr/>
        </p:nvSpPr>
        <p:spPr>
          <a:xfrm>
            <a:off x="239104" y="2118471"/>
            <a:ext cx="1117125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lnSpc>
                <a:spcPct val="150000"/>
              </a:lnSpc>
              <a:spcBef>
                <a:spcPct val="0"/>
              </a:spcBef>
              <a:spcAft>
                <a:spcPct val="0"/>
              </a:spcAft>
              <a:defRPr sz="1600" b="1">
                <a:latin typeface="Arial" panose="020B0604020202020204" pitchFamily="34" charset="0"/>
              </a:defRPr>
            </a:lvl1pPr>
            <a:lvl2pPr marL="742950" lvl="1" indent="-285750" eaLnBrk="0" fontAlgn="base" hangingPunct="0">
              <a:lnSpc>
                <a:spcPct val="150000"/>
              </a:lnSpc>
              <a:spcBef>
                <a:spcPct val="0"/>
              </a:spcBef>
              <a:spcAft>
                <a:spcPct val="0"/>
              </a:spcAft>
              <a:buFont typeface="Wingdings" panose="05000000000000000000" pitchFamily="2" charset="2"/>
              <a:buChar char="Ø"/>
              <a:defRPr sz="1600">
                <a:latin typeface="Arial" panose="020B0604020202020204" pitchFamily="34" charset="0"/>
              </a:defRPr>
            </a:lvl2pPr>
          </a:lstStyle>
          <a:p>
            <a:r>
              <a:rPr lang="en-US" altLang="en-US" dirty="0">
                <a:latin typeface="Aptos" panose="020B0004020202020204" pitchFamily="34" charset="0"/>
              </a:rPr>
              <a:t>Sales by State:</a:t>
            </a:r>
          </a:p>
          <a:p>
            <a:pPr marL="1028700" lvl="1"/>
            <a:r>
              <a:rPr lang="en-US" altLang="en-US" sz="1400" dirty="0">
                <a:latin typeface="Aptos" panose="020B0004020202020204" pitchFamily="34" charset="0"/>
              </a:rPr>
              <a:t>Bubble Map: Display a bubble map to visualize sales distribution across different states. The size of each bubble should correspond to the sales volume, allowing users to quickly identify states with high or low sales.</a:t>
            </a:r>
          </a:p>
          <a:p>
            <a:pPr marL="1028700" lvl="1"/>
            <a:r>
              <a:rPr lang="en-US" altLang="en-US" sz="1400" dirty="0">
                <a:latin typeface="Aptos" panose="020B0004020202020204" pitchFamily="34" charset="0"/>
              </a:rPr>
              <a:t>Bar Chart: Place a bar chart alongside the bubble map to provide a detailed breakdown of sales by state. This chart should allow for easy comparison between states, with bars sorted either in ascending or descending order of sales.</a:t>
            </a:r>
          </a:p>
          <a:p>
            <a:pPr lvl="1" indent="0">
              <a:lnSpc>
                <a:spcPct val="100000"/>
              </a:lnSpc>
              <a:buNone/>
            </a:pPr>
            <a:endParaRPr lang="en-US" altLang="en-US" dirty="0">
              <a:latin typeface="Aptos" panose="020B0004020202020204" pitchFamily="34" charset="0"/>
            </a:endParaRPr>
          </a:p>
          <a:p>
            <a:pPr>
              <a:lnSpc>
                <a:spcPct val="100000"/>
              </a:lnSpc>
            </a:pPr>
            <a:r>
              <a:rPr lang="en-US" altLang="en-US" dirty="0">
                <a:latin typeface="Aptos" panose="020B0004020202020204" pitchFamily="34" charset="0"/>
              </a:rPr>
              <a:t>Create a table/grid to display key metrics for both current and previous years. The table should include the following columns:</a:t>
            </a:r>
          </a:p>
          <a:p>
            <a:pPr lvl="1">
              <a:lnSpc>
                <a:spcPct val="100000"/>
              </a:lnSpc>
            </a:pPr>
            <a:r>
              <a:rPr lang="en-US" altLang="en-US" sz="1200" dirty="0">
                <a:latin typeface="Aptos" panose="020B0004020202020204" pitchFamily="34" charset="0"/>
              </a:rPr>
              <a:t>CY Sales: Current Year Sales</a:t>
            </a:r>
          </a:p>
          <a:p>
            <a:pPr lvl="1">
              <a:lnSpc>
                <a:spcPct val="100000"/>
              </a:lnSpc>
            </a:pPr>
            <a:r>
              <a:rPr lang="en-US" altLang="en-US" sz="1200" dirty="0">
                <a:latin typeface="Aptos" panose="020B0004020202020204" pitchFamily="34" charset="0"/>
              </a:rPr>
              <a:t>PY Sales: Previous Year Sales</a:t>
            </a:r>
          </a:p>
          <a:p>
            <a:pPr lvl="1">
              <a:lnSpc>
                <a:spcPct val="100000"/>
              </a:lnSpc>
            </a:pPr>
            <a:r>
              <a:rPr lang="en-US" altLang="en-US" sz="1200" dirty="0">
                <a:latin typeface="Aptos" panose="020B0004020202020204" pitchFamily="34" charset="0"/>
              </a:rPr>
              <a:t>YoY Sales: Year-over-Year Sales growth or decline</a:t>
            </a:r>
          </a:p>
          <a:p>
            <a:pPr lvl="1">
              <a:lnSpc>
                <a:spcPct val="100000"/>
              </a:lnSpc>
            </a:pPr>
            <a:r>
              <a:rPr lang="en-US" altLang="en-US" sz="1200" dirty="0">
                <a:latin typeface="Aptos" panose="020B0004020202020204" pitchFamily="34" charset="0"/>
              </a:rPr>
              <a:t>CY Profit: Current Year Profit</a:t>
            </a:r>
          </a:p>
          <a:p>
            <a:pPr lvl="1">
              <a:lnSpc>
                <a:spcPct val="100000"/>
              </a:lnSpc>
            </a:pPr>
            <a:r>
              <a:rPr lang="en-US" altLang="en-US" sz="1200" dirty="0">
                <a:latin typeface="Aptos" panose="020B0004020202020204" pitchFamily="34" charset="0"/>
              </a:rPr>
              <a:t>PY Profit: Previous Year Profit</a:t>
            </a:r>
          </a:p>
          <a:p>
            <a:pPr lvl="1">
              <a:lnSpc>
                <a:spcPct val="100000"/>
              </a:lnSpc>
            </a:pPr>
            <a:r>
              <a:rPr lang="en-US" altLang="en-US" sz="1200" dirty="0">
                <a:latin typeface="Aptos" panose="020B0004020202020204" pitchFamily="34" charset="0"/>
              </a:rPr>
              <a:t>YoY Profit: Year-over-Year Profit growth or decline</a:t>
            </a:r>
          </a:p>
          <a:p>
            <a:pPr lvl="1">
              <a:lnSpc>
                <a:spcPct val="100000"/>
              </a:lnSpc>
            </a:pPr>
            <a:r>
              <a:rPr lang="en-US" altLang="en-US" sz="1200" dirty="0">
                <a:latin typeface="Aptos" panose="020B0004020202020204" pitchFamily="34" charset="0"/>
              </a:rPr>
              <a:t>CY Qty: Current Year Quantity</a:t>
            </a:r>
          </a:p>
          <a:p>
            <a:pPr lvl="1">
              <a:lnSpc>
                <a:spcPct val="100000"/>
              </a:lnSpc>
            </a:pPr>
            <a:r>
              <a:rPr lang="en-US" altLang="en-US" sz="1200" dirty="0">
                <a:latin typeface="Aptos" panose="020B0004020202020204" pitchFamily="34" charset="0"/>
              </a:rPr>
              <a:t>PY Qty: Previous Year Quantity</a:t>
            </a:r>
          </a:p>
          <a:p>
            <a:pPr lvl="1">
              <a:lnSpc>
                <a:spcPct val="100000"/>
              </a:lnSpc>
            </a:pPr>
            <a:r>
              <a:rPr lang="en-US" altLang="en-US" sz="1200" dirty="0">
                <a:latin typeface="Aptos" panose="020B0004020202020204" pitchFamily="34" charset="0"/>
              </a:rPr>
              <a:t>YoY Qty: Year-over-Year Quantity growth or decline</a:t>
            </a:r>
          </a:p>
        </p:txBody>
      </p:sp>
    </p:spTree>
    <p:extLst>
      <p:ext uri="{BB962C8B-B14F-4D97-AF65-F5344CB8AC3E}">
        <p14:creationId xmlns:p14="http://schemas.microsoft.com/office/powerpoint/2010/main" val="1109128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675</TotalTime>
  <Words>535</Words>
  <Application>Microsoft Office PowerPoint</Application>
  <PresentationFormat>Widescreen</PresentationFormat>
  <Paragraphs>58</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Swapnajeet A</dc:creator>
  <cp:lastModifiedBy>03-135231-030</cp:lastModifiedBy>
  <cp:revision>8</cp:revision>
  <dcterms:created xsi:type="dcterms:W3CDTF">2024-10-20T07:13:28Z</dcterms:created>
  <dcterms:modified xsi:type="dcterms:W3CDTF">2026-03-15T10:30:17Z</dcterms:modified>
</cp:coreProperties>
</file>